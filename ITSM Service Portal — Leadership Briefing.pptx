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Purpose: introduce the ITSM Service Portal to senior leadership in one sentence — a centralized enterprise service management platform.
- Stack: a Next.js + TypeScript application running on PostgreSQL as its database.
- Security: access is secured with Microsoft Entra ID single sign-on (SAML 2.0).
- Preview the arc of the briefing: the problem it solves, what it delivers, how it is built, and how it is secured and 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State plainly: no measured baseline or results are claimed — this is the problem the product is designed to address.
- Walk the problem column: scattered informal channels, little status visibility, manual routing and approval chasing, dispersed records.
- Walk the solution column: single catalog intake, one tracked lifecycle with status/assignees/comments/attachments, structured approvals and team assignment, centralized administration and audit history.
- Land on the intended-outcomes framing: these are design goals of the platform, not yet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Cover the four capability groups in order: service catalog, request lifecycle, approvals and notifications, administration and analytics.
- Catalog breadth shows the platform is not IT-only — HR onboarding/offboarding and Info Security services are included.
- The lifecycle is a collaboration surface: comments with @mentions, attachments, and request followers.
- Approvals are multi-approver with a workbench and live counters; notifications run in-app and via Outlook email; the admin group adds audit logs and reporting.
- The flow branches by request type — approval routing and support-team assignment are configured per service, not a single fixed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integrated application: full-stack Next.js — no separate backend framework, and no microservices claim.
- PostgreSQL is the primary persistent store: requests, users and roles, approvals, notifications, activity and audit.
- SAML proves identity only; all profile and role data comes from PostgreSQL, synced from Entra ID via Microsoft Graph.
- Just-in-time provisioning: first-time sign-in works immediately — no waiting on a bulk directory sync.
- Sessions use a custom http-only cookie (no NextAuth/JWT); assertions are validated for signature, audience, issuer, timing, and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Keep security statements grounded — no certification, compliance, or completed-audit claims are made.
- RBAC plus administrative authorization checks and approval validation enforce least privilege.
- Audit logs, activity history, and exportable reports underpin traceability and oversight.
- The dynamic, administrator-managed catalog is the maintainability story — new request types require no code changes.
- Roadmap items are explicitly planned, not delivered — present them as future work, not current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the audience for their time and attention.
- Invite questions and open discussion.
- Offer specific deep dives if asked: the SSO identity flow, the dynamic catalog framework, or the administration center.
- Keep the door open for follow-up sessions with individual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85800" y="1268462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85800" y="1489918"/>
            <a:ext cx="63870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SERVICE MANAGEMENT PLATFORM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685800" y="1745307"/>
            <a:ext cx="5700713" cy="46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26"/>
              </a:lnSpc>
              <a:buNone/>
            </a:pPr>
            <a:r>
              <a:rPr lang="en-US" sz="3263" b="1" spc="-65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ITSM Service Portal</a:t>
            </a:r>
            <a:endParaRPr lang="en-US" sz="3263" dirty="0"/>
          </a:p>
        </p:txBody>
      </p:sp>
      <p:sp>
        <p:nvSpPr>
          <p:cNvPr id="8" name="Text 3"/>
          <p:cNvSpPr/>
          <p:nvPr/>
        </p:nvSpPr>
        <p:spPr>
          <a:xfrm>
            <a:off x="685800" y="2308882"/>
            <a:ext cx="5429250" cy="21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8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Centralized Enterprise Service Management Platform</a:t>
            </a:r>
            <a:endParaRPr lang="en-US" sz="1181" dirty="0"/>
          </a:p>
        </p:txBody>
      </p:sp>
      <p:sp>
        <p:nvSpPr>
          <p:cNvPr id="9" name="Text 4"/>
          <p:cNvSpPr/>
          <p:nvPr/>
        </p:nvSpPr>
        <p:spPr>
          <a:xfrm>
            <a:off x="685800" y="2611375"/>
            <a:ext cx="5429250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portal for submitting, tracking, approving, and administering enterprise service requests.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685800" y="3015702"/>
            <a:ext cx="476845" cy="252417"/>
          </a:xfrm>
          <a:prstGeom prst="roundRect">
            <a:avLst>
              <a:gd name="adj" fmla="val 3769744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85800" y="3028504"/>
            <a:ext cx="4768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234083" y="3015702"/>
            <a:ext cx="589359" cy="252417"/>
          </a:xfrm>
          <a:prstGeom prst="roundRect">
            <a:avLst>
              <a:gd name="adj" fmla="val 3769744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234083" y="3028504"/>
            <a:ext cx="5893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894880" y="3015702"/>
            <a:ext cx="589359" cy="252417"/>
          </a:xfrm>
          <a:prstGeom prst="roundRect">
            <a:avLst>
              <a:gd name="adj" fmla="val 3769744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894880" y="3028504"/>
            <a:ext cx="5893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559248" y="3032075"/>
            <a:ext cx="1294805" cy="219670"/>
          </a:xfrm>
          <a:prstGeom prst="roundRect">
            <a:avLst>
              <a:gd name="adj" fmla="val 433171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2555677" y="3028504"/>
            <a:ext cx="3559373" cy="331797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Microsoft Entra ID (SAML 2.0)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85800" y="4527352"/>
            <a:ext cx="7772400" cy="0"/>
          </a:xfrm>
          <a:prstGeom prst="line">
            <a:avLst/>
          </a:prstGeom>
          <a:noFill/>
          <a:ln w="7144">
            <a:solidFill>
              <a:srgbClr val="DCE3E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85800" y="4673798"/>
            <a:ext cx="347162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ITSM Service Portal — Leadership Briefing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031691" y="4673798"/>
            <a:ext cx="1080617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Presenter Name · Department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4690848" y="4673798"/>
            <a:ext cx="37673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5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CONTEXT — PROBLEM TO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84002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Front Door for Every Enterprise Service Request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51123"/>
            <a:ext cx="64293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portal centralizes how employees raise, track, and resolve service requests — replacing disconnected request paths with a single, managed experience.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0772" y="1436005"/>
            <a:ext cx="3850481" cy="2855602"/>
          </a:xfrm>
          <a:prstGeom prst="roundRect">
            <a:avLst>
              <a:gd name="adj" fmla="val 4670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4369" y="1625315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7" name="Text 5"/>
          <p:cNvSpPr/>
          <p:nvPr/>
        </p:nvSpPr>
        <p:spPr>
          <a:xfrm>
            <a:off x="1064419" y="1681572"/>
            <a:ext cx="3043238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Disconnected request paths</a:t>
            </a:r>
            <a:endParaRPr lang="en-US" sz="1181" dirty="0"/>
          </a:p>
        </p:txBody>
      </p:sp>
      <p:sp>
        <p:nvSpPr>
          <p:cNvPr id="8" name="Shape 6"/>
          <p:cNvSpPr/>
          <p:nvPr/>
        </p:nvSpPr>
        <p:spPr>
          <a:xfrm>
            <a:off x="671513" y="2310668"/>
            <a:ext cx="0" cy="133945"/>
          </a:xfrm>
          <a:prstGeom prst="line">
            <a:avLst/>
          </a:prstGeom>
          <a:noFill/>
          <a:ln w="14288">
            <a:solidFill>
              <a:srgbClr val="DC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369" y="2310668"/>
            <a:ext cx="3443288" cy="16459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Requests arrive through scattered, informal channels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71513" y="2758604"/>
            <a:ext cx="0" cy="133945"/>
          </a:xfrm>
          <a:prstGeom prst="line">
            <a:avLst/>
          </a:prstGeom>
          <a:noFill/>
          <a:ln w="14288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369" y="2758604"/>
            <a:ext cx="3443288" cy="16459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Little visibility into status once a request is submitted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1513" y="3206428"/>
            <a:ext cx="0" cy="133945"/>
          </a:xfrm>
          <a:prstGeom prst="line">
            <a:avLst/>
          </a:prstGeom>
          <a:noFill/>
          <a:ln w="14288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369" y="3206428"/>
            <a:ext cx="3443288" cy="16459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routing, follow-ups, and approval chasing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1513" y="3654363"/>
            <a:ext cx="0" cy="133945"/>
          </a:xfrm>
          <a:prstGeom prst="line">
            <a:avLst/>
          </a:prstGeom>
          <a:noFill/>
          <a:ln w="14288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369" y="3654363"/>
            <a:ext cx="3443288" cy="16459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Records and decisions dispersed — hard to audit or report 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99491" y="2791298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4829175" y="1432433"/>
            <a:ext cx="3857625" cy="2862746"/>
          </a:xfrm>
          <a:prstGeom prst="roundRect">
            <a:avLst>
              <a:gd name="adj" fmla="val 46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29175" y="1443149"/>
            <a:ext cx="3857625" cy="0"/>
          </a:xfrm>
          <a:prstGeom prst="line">
            <a:avLst/>
          </a:prstGeom>
          <a:noFill/>
          <a:ln w="21431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3228" y="1432433"/>
            <a:ext cx="0" cy="2862746"/>
          </a:xfrm>
          <a:prstGeom prst="line">
            <a:avLst/>
          </a:prstGeom>
          <a:noFill/>
          <a:ln w="7144">
            <a:solidFill>
              <a:srgbClr val="DC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9175" y="4291608"/>
            <a:ext cx="3857625" cy="0"/>
          </a:xfrm>
          <a:prstGeom prst="line">
            <a:avLst/>
          </a:prstGeom>
          <a:noFill/>
          <a:ln w="7144">
            <a:solidFill>
              <a:srgbClr val="DC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32747" y="1432433"/>
            <a:ext cx="0" cy="2862746"/>
          </a:xfrm>
          <a:prstGeom prst="line">
            <a:avLst/>
          </a:prstGeom>
          <a:noFill/>
          <a:ln w="7144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6344" y="1639602"/>
            <a:ext cx="3000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5436394" y="1695859"/>
            <a:ext cx="3043238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unified service portal</a:t>
            </a:r>
            <a:endParaRPr lang="en-US" sz="1181" dirty="0"/>
          </a:p>
        </p:txBody>
      </p:sp>
      <p:sp>
        <p:nvSpPr>
          <p:cNvPr id="24" name="Text 22"/>
          <p:cNvSpPr/>
          <p:nvPr/>
        </p:nvSpPr>
        <p:spPr>
          <a:xfrm>
            <a:off x="5036344" y="230966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5" name="Text 23"/>
          <p:cNvSpPr/>
          <p:nvPr/>
        </p:nvSpPr>
        <p:spPr>
          <a:xfrm>
            <a:off x="5207794" y="2295376"/>
            <a:ext cx="32718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 service catalog as the single point of intake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36344" y="27279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7" name="Text 25"/>
          <p:cNvSpPr/>
          <p:nvPr/>
        </p:nvSpPr>
        <p:spPr>
          <a:xfrm>
            <a:off x="5207794" y="2713620"/>
            <a:ext cx="32718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request tracked through one lifecycle — status, assignees, comments, attachments, followers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36344" y="32800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9" name="Text 27"/>
          <p:cNvSpPr/>
          <p:nvPr/>
        </p:nvSpPr>
        <p:spPr>
          <a:xfrm>
            <a:off x="5207794" y="3265810"/>
            <a:ext cx="32718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Structured approvals and support-team assignment built into the workflow</a:t>
            </a:r>
            <a:endParaRPr lang="en-US" sz="703" dirty="0"/>
          </a:p>
        </p:txBody>
      </p:sp>
      <p:sp>
        <p:nvSpPr>
          <p:cNvPr id="30" name="Text 28"/>
          <p:cNvSpPr/>
          <p:nvPr/>
        </p:nvSpPr>
        <p:spPr>
          <a:xfrm>
            <a:off x="5036344" y="369834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1" name="Text 29"/>
          <p:cNvSpPr/>
          <p:nvPr/>
        </p:nvSpPr>
        <p:spPr>
          <a:xfrm>
            <a:off x="5207794" y="3684054"/>
            <a:ext cx="32718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Centralized administration, reporting, and audit history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438055"/>
            <a:ext cx="8229600" cy="333970"/>
          </a:xfrm>
          <a:prstGeom prst="roundRect">
            <a:avLst>
              <a:gd name="adj" fmla="val 34225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00075" y="4538067"/>
            <a:ext cx="102328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Intended outcomes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33004" y="4538067"/>
            <a:ext cx="7144" cy="133945"/>
          </a:xfrm>
          <a:prstGeom prst="rect">
            <a:avLst/>
          </a:prstGeom>
          <a:solidFill>
            <a:srgbClr val="155E7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654448" y="4538067"/>
            <a:ext cx="688947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consistent request experience, end-to-end visibility, coordinated approvals, and centralized oversight — design goals of the platform, not yet measured results.</a:t>
            </a:r>
            <a:endParaRPr lang="en-US" sz="70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636000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CAPABILITIES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69714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Portal Delivers, End to End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32197" y="1032718"/>
            <a:ext cx="1989534" cy="2321272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0069" y="115773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6" name="Text 4"/>
          <p:cNvSpPr/>
          <p:nvPr/>
        </p:nvSpPr>
        <p:spPr>
          <a:xfrm>
            <a:off x="885825" y="1217116"/>
            <a:ext cx="1418034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Catalog</a:t>
            </a:r>
            <a:endParaRPr lang="en-US" sz="872" dirty="0"/>
          </a:p>
        </p:txBody>
      </p:sp>
      <p:sp>
        <p:nvSpPr>
          <p:cNvPr id="7" name="Text 5"/>
          <p:cNvSpPr/>
          <p:nvPr/>
        </p:nvSpPr>
        <p:spPr>
          <a:xfrm>
            <a:off x="527209" y="1610893"/>
            <a:ext cx="671245" cy="190024"/>
          </a:xfrm>
          <a:prstGeom prst="roundRect">
            <a:avLst>
              <a:gd name="adj" fmla="val 5007512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6233" y="1621073"/>
            <a:ext cx="85319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Enterprise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0069" y="1954039"/>
            <a:ext cx="1256630" cy="169664"/>
          </a:xfrm>
          <a:prstGeom prst="roundRect">
            <a:avLst>
              <a:gd name="adj" fmla="val 5608423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0069" y="1954039"/>
            <a:ext cx="1256630" cy="248194"/>
          </a:xfrm>
          <a:prstGeom prst="rect">
            <a:avLst/>
          </a:prstGeom>
          <a:noFill/>
          <a:ln/>
        </p:spPr>
        <p:txBody>
          <a:bodyPr wrap="none" lIns="78581" tIns="28575" rIns="78581" bIns="28575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6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 Onboarding &amp; Offboarding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50069" y="2276936"/>
            <a:ext cx="621283" cy="190024"/>
          </a:xfrm>
          <a:prstGeom prst="roundRect">
            <a:avLst>
              <a:gd name="adj" fmla="val 5007512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0107" y="2287116"/>
            <a:ext cx="84120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 Security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21358" y="2276936"/>
            <a:ext cx="891853" cy="190024"/>
          </a:xfrm>
          <a:prstGeom prst="roundRect">
            <a:avLst>
              <a:gd name="adj" fmla="val 5007512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21358" y="2287116"/>
            <a:ext cx="89185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Engineering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0069" y="2609902"/>
            <a:ext cx="445257" cy="190024"/>
          </a:xfrm>
          <a:prstGeom prst="roundRect">
            <a:avLst>
              <a:gd name="adj" fmla="val 5007512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2620082"/>
            <a:ext cx="44525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DevOps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5332" y="2609902"/>
            <a:ext cx="496714" cy="190024"/>
          </a:xfrm>
          <a:prstGeom prst="roundRect">
            <a:avLst>
              <a:gd name="adj" fmla="val 5007512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20547" y="2620082"/>
            <a:ext cx="54628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7209" y="2942868"/>
            <a:ext cx="967375" cy="190024"/>
          </a:xfrm>
          <a:prstGeom prst="roundRect">
            <a:avLst>
              <a:gd name="adj" fmla="val 5007512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0069" y="2953048"/>
            <a:ext cx="92165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6" kern="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Engineering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28888" y="1032718"/>
            <a:ext cx="1989534" cy="2321272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46759" y="115773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2982516" y="1217116"/>
            <a:ext cx="1418034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Lifecycle</a:t>
            </a:r>
            <a:endParaRPr lang="en-US" sz="872" dirty="0"/>
          </a:p>
        </p:txBody>
      </p:sp>
      <p:sp>
        <p:nvSpPr>
          <p:cNvPr id="24" name="Text 22"/>
          <p:cNvSpPr/>
          <p:nvPr/>
        </p:nvSpPr>
        <p:spPr>
          <a:xfrm>
            <a:off x="2646759" y="1572071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39628" y="1522065"/>
            <a:ext cx="166092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submission via purpose-built forms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46759" y="1970336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39628" y="1920329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Status, priority &amp; assignment tracking</a:t>
            </a:r>
            <a:endParaRPr lang="en-US" sz="703" dirty="0"/>
          </a:p>
        </p:txBody>
      </p:sp>
      <p:sp>
        <p:nvSpPr>
          <p:cNvPr id="28" name="Text 26"/>
          <p:cNvSpPr/>
          <p:nvPr/>
        </p:nvSpPr>
        <p:spPr>
          <a:xfrm>
            <a:off x="2646759" y="2230189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739628" y="2180183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Rich comments with @mentions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46759" y="2490043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739628" y="2440037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Attachments &amp; request followers</a:t>
            </a:r>
            <a:endParaRPr lang="en-US" sz="703" dirty="0"/>
          </a:p>
        </p:txBody>
      </p:sp>
      <p:sp>
        <p:nvSpPr>
          <p:cNvPr id="32" name="Text 30"/>
          <p:cNvSpPr/>
          <p:nvPr/>
        </p:nvSpPr>
        <p:spPr>
          <a:xfrm>
            <a:off x="4625578" y="1032718"/>
            <a:ext cx="1989534" cy="2321272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43450" y="115773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4" name="Text 32"/>
          <p:cNvSpPr/>
          <p:nvPr/>
        </p:nvSpPr>
        <p:spPr>
          <a:xfrm>
            <a:off x="5079206" y="1217116"/>
            <a:ext cx="1461799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Approvals &amp; Notifications</a:t>
            </a:r>
            <a:endParaRPr lang="en-US" sz="872" dirty="0"/>
          </a:p>
        </p:txBody>
      </p:sp>
      <p:sp>
        <p:nvSpPr>
          <p:cNvPr id="35" name="Text 33"/>
          <p:cNvSpPr/>
          <p:nvPr/>
        </p:nvSpPr>
        <p:spPr>
          <a:xfrm>
            <a:off x="4743450" y="1572071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36319" y="1522065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Multi-approver support with comments</a:t>
            </a:r>
            <a:endParaRPr lang="en-US" sz="703" dirty="0"/>
          </a:p>
        </p:txBody>
      </p:sp>
      <p:sp>
        <p:nvSpPr>
          <p:cNvPr id="37" name="Text 35"/>
          <p:cNvSpPr/>
          <p:nvPr/>
        </p:nvSpPr>
        <p:spPr>
          <a:xfrm>
            <a:off x="4743450" y="1831925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36319" y="1781919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 workbench &amp; live counters</a:t>
            </a:r>
            <a:endParaRPr lang="en-US" sz="703" dirty="0"/>
          </a:p>
        </p:txBody>
      </p:sp>
      <p:sp>
        <p:nvSpPr>
          <p:cNvPr id="39" name="Text 37"/>
          <p:cNvSpPr/>
          <p:nvPr/>
        </p:nvSpPr>
        <p:spPr>
          <a:xfrm>
            <a:off x="4743450" y="2091779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36319" y="2041773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In-app notification center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43450" y="2351633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36319" y="2301627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Outlook email notifications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22269" y="1032718"/>
            <a:ext cx="1989534" cy="2321272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40141" y="115773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45" name="Text 43"/>
          <p:cNvSpPr/>
          <p:nvPr/>
        </p:nvSpPr>
        <p:spPr>
          <a:xfrm>
            <a:off x="7175897" y="1217116"/>
            <a:ext cx="1502695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Administration &amp; Analytics</a:t>
            </a:r>
            <a:endParaRPr lang="en-US" sz="872" dirty="0"/>
          </a:p>
        </p:txBody>
      </p:sp>
      <p:sp>
        <p:nvSpPr>
          <p:cNvPr id="46" name="Text 44"/>
          <p:cNvSpPr/>
          <p:nvPr/>
        </p:nvSpPr>
        <p:spPr>
          <a:xfrm>
            <a:off x="6840141" y="1572071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33009" y="1522065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Users, roles &amp; metadata management</a:t>
            </a:r>
            <a:endParaRPr lang="en-US" sz="703" dirty="0"/>
          </a:p>
        </p:txBody>
      </p:sp>
      <p:sp>
        <p:nvSpPr>
          <p:cNvPr id="48" name="Text 46"/>
          <p:cNvSpPr/>
          <p:nvPr/>
        </p:nvSpPr>
        <p:spPr>
          <a:xfrm>
            <a:off x="6840141" y="1831925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33009" y="1781919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Configurable request forms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40141" y="2091779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933009" y="2041773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logs &amp; activity history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40141" y="2351633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33009" y="2301627"/>
            <a:ext cx="166092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Reporting &amp; assignee workload views</a:t>
            </a:r>
            <a:endParaRPr lang="en-US" sz="703" dirty="0"/>
          </a:p>
        </p:txBody>
      </p:sp>
      <p:sp>
        <p:nvSpPr>
          <p:cNvPr id="54" name="Text 52"/>
          <p:cNvSpPr/>
          <p:nvPr/>
        </p:nvSpPr>
        <p:spPr>
          <a:xfrm>
            <a:off x="432197" y="3504009"/>
            <a:ext cx="8279606" cy="1264444"/>
          </a:xfrm>
          <a:prstGeom prst="roundRect">
            <a:avLst>
              <a:gd name="adj" fmla="val 10546"/>
            </a:avLst>
          </a:prstGeom>
          <a:solidFill>
            <a:srgbClr val="E0F2F7"/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07219" y="3636169"/>
            <a:ext cx="47025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FLOW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09828" y="3639964"/>
            <a:ext cx="3126953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27"/>
              </a:lnSpc>
              <a:buNone/>
            </a:pPr>
            <a:r>
              <a:rPr lang="en-US" sz="60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Routing varies by request type — approvers, assignees, and forms are configured per service.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607219" y="4055564"/>
            <a:ext cx="597173" cy="316711"/>
          </a:xfrm>
          <a:prstGeom prst="roundRect">
            <a:avLst>
              <a:gd name="adj" fmla="val 27067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07219" y="4068366"/>
            <a:ext cx="59717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Employee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316236" y="41567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542492" y="4055564"/>
            <a:ext cx="830461" cy="316711"/>
          </a:xfrm>
          <a:prstGeom prst="roundRect">
            <a:avLst>
              <a:gd name="adj" fmla="val 27067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542492" y="4068366"/>
            <a:ext cx="83046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Catalog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484797" y="41567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2710942" y="4055564"/>
            <a:ext cx="1013743" cy="316711"/>
          </a:xfrm>
          <a:prstGeom prst="roundRect">
            <a:avLst>
              <a:gd name="adj" fmla="val 27067"/>
            </a:avLst>
          </a:prstGeom>
          <a:solidFill>
            <a:srgbClr val="FFFFFF"/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710942" y="4068366"/>
            <a:ext cx="101374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Submitted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836640" y="41567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4066356" y="3965674"/>
            <a:ext cx="1430089" cy="496491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162797" y="405407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sp>
        <p:nvSpPr>
          <p:cNvPr id="68" name="Text 66"/>
          <p:cNvSpPr/>
          <p:nvPr/>
        </p:nvSpPr>
        <p:spPr>
          <a:xfrm>
            <a:off x="4298528" y="4033540"/>
            <a:ext cx="11014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 routing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162797" y="4210348"/>
            <a:ext cx="1237208" cy="7144"/>
          </a:xfrm>
          <a:prstGeom prst="rect">
            <a:avLst/>
          </a:prstGeom>
          <a:solidFill>
            <a:srgbClr val="0E749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162797" y="428089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914" dirty="0"/>
          </a:p>
        </p:txBody>
      </p:sp>
      <p:sp>
        <p:nvSpPr>
          <p:cNvPr id="71" name="Text 69"/>
          <p:cNvSpPr/>
          <p:nvPr/>
        </p:nvSpPr>
        <p:spPr>
          <a:xfrm>
            <a:off x="4298528" y="4260354"/>
            <a:ext cx="1101477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Support-team assignment</a:t>
            </a:r>
            <a:endParaRPr lang="en-US" sz="703" dirty="0"/>
          </a:p>
        </p:txBody>
      </p:sp>
      <p:sp>
        <p:nvSpPr>
          <p:cNvPr id="72" name="Text 70"/>
          <p:cNvSpPr/>
          <p:nvPr/>
        </p:nvSpPr>
        <p:spPr>
          <a:xfrm>
            <a:off x="5611862" y="41567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5838006" y="4055564"/>
            <a:ext cx="1063749" cy="316711"/>
          </a:xfrm>
          <a:prstGeom prst="roundRect">
            <a:avLst>
              <a:gd name="adj" fmla="val 27067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838006" y="4068366"/>
            <a:ext cx="106374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Resolution &amp; Updates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013711" y="41567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76" name="Text 74"/>
          <p:cNvSpPr/>
          <p:nvPr/>
        </p:nvSpPr>
        <p:spPr>
          <a:xfrm>
            <a:off x="7243428" y="4071938"/>
            <a:ext cx="1289782" cy="283964"/>
          </a:xfrm>
          <a:prstGeom prst="roundRect">
            <a:avLst>
              <a:gd name="adj" fmla="val 30189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7239856" y="4068366"/>
            <a:ext cx="1296925" cy="357713"/>
          </a:xfrm>
          <a:prstGeom prst="rect">
            <a:avLst/>
          </a:prstGeom>
          <a:noFill/>
          <a:ln/>
        </p:spPr>
        <p:txBody>
          <a:bodyPr wrap="none" lIns="92869" tIns="71438" rIns="92869" bIns="71438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Notifications &amp; Audit History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85750"/>
            <a:ext cx="8636000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ARCHITECTURE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00050" y="455414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Modern Stack, Integrated with Enterprise Identity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403622" y="868970"/>
            <a:ext cx="5750719" cy="681000"/>
          </a:xfrm>
          <a:prstGeom prst="roundRect">
            <a:avLst>
              <a:gd name="adj" fmla="val 19581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5781" y="1030374"/>
            <a:ext cx="5486400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35781" y="1196299"/>
            <a:ext cx="840842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5781" y="1207182"/>
            <a:ext cx="840842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App Router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448060" y="1196299"/>
            <a:ext cx="380740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448060" y="1207182"/>
            <a:ext cx="380740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900238" y="1196299"/>
            <a:ext cx="550627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834073" y="1207182"/>
            <a:ext cx="682955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522302" y="1196299"/>
            <a:ext cx="643830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442795" y="1207182"/>
            <a:ext cx="802843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37570" y="1196299"/>
            <a:ext cx="639589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167931" y="1207182"/>
            <a:ext cx="778866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Lucide React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14688" y="155354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55" dirty="0"/>
          </a:p>
        </p:txBody>
      </p:sp>
      <p:sp>
        <p:nvSpPr>
          <p:cNvPr id="18" name="Text 15"/>
          <p:cNvSpPr/>
          <p:nvPr/>
        </p:nvSpPr>
        <p:spPr>
          <a:xfrm>
            <a:off x="403622" y="1685702"/>
            <a:ext cx="5750719" cy="681112"/>
          </a:xfrm>
          <a:prstGeom prst="roundRect">
            <a:avLst>
              <a:gd name="adj" fmla="val 19578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35781" y="1773213"/>
            <a:ext cx="5486400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&amp; API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5781" y="1939137"/>
            <a:ext cx="996776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5781" y="1950021"/>
            <a:ext cx="996776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Route Handlers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603995" y="1939137"/>
            <a:ext cx="883704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603995" y="1950021"/>
            <a:ext cx="883704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 Components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559137" y="1939137"/>
            <a:ext cx="759693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559137" y="1950021"/>
            <a:ext cx="759693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REST-style APIs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5781" y="2174267"/>
            <a:ext cx="5486400" cy="110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supports requests, approvals, attachments, notifications, admin reporting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14688" y="23703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55" dirty="0"/>
          </a:p>
        </p:txBody>
      </p:sp>
      <p:sp>
        <p:nvSpPr>
          <p:cNvPr id="28" name="Text 25"/>
          <p:cNvSpPr/>
          <p:nvPr/>
        </p:nvSpPr>
        <p:spPr>
          <a:xfrm>
            <a:off x="403622" y="2502545"/>
            <a:ext cx="5750719" cy="681000"/>
          </a:xfrm>
          <a:prstGeom prst="roundRect">
            <a:avLst>
              <a:gd name="adj" fmla="val 19581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35781" y="2590056"/>
            <a:ext cx="5486400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2921" y="2755981"/>
            <a:ext cx="653162" cy="203150"/>
          </a:xfrm>
          <a:prstGeom prst="roundRect">
            <a:avLst>
              <a:gd name="adj" fmla="val 32821"/>
            </a:avLst>
          </a:prstGeom>
          <a:solidFill>
            <a:srgbClr val="F1F5F9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6036" y="2766864"/>
            <a:ext cx="706933" cy="181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spc="6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35781" y="2991110"/>
            <a:ext cx="5486400" cy="11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requests · users &amp; roles · approvals · notifications · activity &amp; audit</a:t>
            </a:r>
            <a:endParaRPr lang="en-US" sz="8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865398"/>
            <a:ext cx="2457450" cy="232171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290072" y="868970"/>
            <a:ext cx="2450306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7144">
            <a:solidFill>
              <a:srgbClr val="0E7490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422231" y="986842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36" name="Text 32"/>
          <p:cNvSpPr/>
          <p:nvPr/>
        </p:nvSpPr>
        <p:spPr>
          <a:xfrm>
            <a:off x="6743700" y="1018319"/>
            <a:ext cx="1864519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81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&amp; Directory</a:t>
            </a:r>
            <a:endParaRPr lang="en-US" sz="1181" dirty="0"/>
          </a:p>
        </p:txBody>
      </p:sp>
      <p:sp>
        <p:nvSpPr>
          <p:cNvPr id="37" name="Text 33"/>
          <p:cNvSpPr/>
          <p:nvPr/>
        </p:nvSpPr>
        <p:spPr>
          <a:xfrm>
            <a:off x="6422231" y="1322598"/>
            <a:ext cx="2185988" cy="7144"/>
          </a:xfrm>
          <a:prstGeom prst="rect">
            <a:avLst/>
          </a:prstGeom>
          <a:solidFill>
            <a:srgbClr val="DCE3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422231" y="1750665"/>
            <a:ext cx="21859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Entra ID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422231" y="1906042"/>
            <a:ext cx="2295715" cy="15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SAML 2.0 identity provider — authentication only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6422231" y="2129061"/>
            <a:ext cx="2185988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Graph API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422231" y="2284437"/>
            <a:ext cx="2295715" cy="15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profile data &amp; just-in-time provisioning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7461647" y="281407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55" dirty="0"/>
          </a:p>
        </p:txBody>
      </p:sp>
      <p:sp>
        <p:nvSpPr>
          <p:cNvPr id="43" name="Text 39"/>
          <p:cNvSpPr/>
          <p:nvPr/>
        </p:nvSpPr>
        <p:spPr>
          <a:xfrm>
            <a:off x="6422231" y="2956954"/>
            <a:ext cx="2185988" cy="10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directory truth lives in PostgreSQL (organization_users)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03622" y="3290701"/>
            <a:ext cx="8336756" cy="1563477"/>
          </a:xfrm>
          <a:prstGeom prst="roundRect">
            <a:avLst>
              <a:gd name="adj" fmla="val 8529"/>
            </a:avLst>
          </a:prstGeom>
          <a:solidFill>
            <a:srgbClr val="E0F2F7"/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50069" y="3401430"/>
            <a:ext cx="8153590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SIGN-ON IDENTITY FLOW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553641" y="3596097"/>
            <a:ext cx="1464469" cy="1143781"/>
          </a:xfrm>
          <a:prstGeom prst="roundRect">
            <a:avLst>
              <a:gd name="adj" fmla="val 8328"/>
            </a:avLst>
          </a:prstGeom>
          <a:solidFill>
            <a:srgbClr val="FFFFFF">
              <a:alpha val="70000"/>
            </a:srgbClr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635794" y="397080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737592" y="3985096"/>
            <a:ext cx="11983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 in with SSO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35794" y="4147617"/>
            <a:ext cx="1378172" cy="31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Entra ID authenticates the user (SAML 2.0)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2057400" y="411792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51" name="Text 47"/>
          <p:cNvSpPr/>
          <p:nvPr/>
        </p:nvSpPr>
        <p:spPr>
          <a:xfrm>
            <a:off x="2196703" y="3596097"/>
            <a:ext cx="1464469" cy="1143781"/>
          </a:xfrm>
          <a:prstGeom prst="roundRect">
            <a:avLst>
              <a:gd name="adj" fmla="val 8328"/>
            </a:avLst>
          </a:prstGeom>
          <a:solidFill>
            <a:srgbClr val="FFFFFF">
              <a:alpha val="70000"/>
            </a:srgbClr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278856" y="397080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2380655" y="3985096"/>
            <a:ext cx="11983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SAML callback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2278856" y="4147617"/>
            <a:ext cx="1378172" cy="31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assertion validated — signature, audience, issuer, timing, replay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3700463" y="411792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56" name="Text 52"/>
          <p:cNvSpPr/>
          <p:nvPr/>
        </p:nvSpPr>
        <p:spPr>
          <a:xfrm>
            <a:off x="3839766" y="3596097"/>
            <a:ext cx="1464469" cy="1143781"/>
          </a:xfrm>
          <a:prstGeom prst="roundRect">
            <a:avLst>
              <a:gd name="adj" fmla="val 8328"/>
            </a:avLst>
          </a:prstGeom>
          <a:solidFill>
            <a:srgbClr val="FFFFFF">
              <a:alpha val="70000"/>
            </a:srgbClr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3921919" y="397080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4023717" y="3985096"/>
            <a:ext cx="11983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lookup / JIT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3921919" y="4147617"/>
            <a:ext cx="1378172" cy="31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organization_users; new users resolved via Graph &amp; upserted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5343525" y="411792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61" name="Text 57"/>
          <p:cNvSpPr/>
          <p:nvPr/>
        </p:nvSpPr>
        <p:spPr>
          <a:xfrm>
            <a:off x="5482828" y="3596097"/>
            <a:ext cx="1464469" cy="1143781"/>
          </a:xfrm>
          <a:prstGeom prst="roundRect">
            <a:avLst>
              <a:gd name="adj" fmla="val 8328"/>
            </a:avLst>
          </a:prstGeom>
          <a:solidFill>
            <a:srgbClr val="FFFFFF">
              <a:alpha val="70000"/>
            </a:srgbClr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5564981" y="397080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5666780" y="3985096"/>
            <a:ext cx="11983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session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5564981" y="4147617"/>
            <a:ext cx="1378172" cy="31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http-only sid cookie — Secure auto-detected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6986588" y="411792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66" name="Text 62"/>
          <p:cNvSpPr/>
          <p:nvPr/>
        </p:nvSpPr>
        <p:spPr>
          <a:xfrm>
            <a:off x="7125891" y="3596097"/>
            <a:ext cx="1464469" cy="1143781"/>
          </a:xfrm>
          <a:prstGeom prst="roundRect">
            <a:avLst>
              <a:gd name="adj" fmla="val 8328"/>
            </a:avLst>
          </a:prstGeom>
          <a:solidFill>
            <a:srgbClr val="FFFFFF">
              <a:alpha val="70000"/>
            </a:srgbClr>
          </a:solidFill>
          <a:ln w="7144">
            <a:solidFill>
              <a:srgbClr val="0E749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7208044" y="402516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55E7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7309842" y="4039456"/>
            <a:ext cx="11983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ITSM Portal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7208044" y="4201976"/>
            <a:ext cx="1404176" cy="15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access governed by roles (user_roles)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57188"/>
            <a:ext cx="8636000" cy="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155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· ADMINISTRATION · VALUE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526852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Controlled, Auditable Operations by Design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3622" y="1011845"/>
            <a:ext cx="2697882" cy="2949811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0069" y="115829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6" name="Text 4"/>
          <p:cNvSpPr/>
          <p:nvPr/>
        </p:nvSpPr>
        <p:spPr>
          <a:xfrm>
            <a:off x="900113" y="1224818"/>
            <a:ext cx="2054944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Identity</a:t>
            </a:r>
            <a:endParaRPr lang="en-US" sz="872" dirty="0"/>
          </a:p>
        </p:txBody>
      </p:sp>
      <p:sp>
        <p:nvSpPr>
          <p:cNvPr id="7" name="Text 5"/>
          <p:cNvSpPr/>
          <p:nvPr/>
        </p:nvSpPr>
        <p:spPr>
          <a:xfrm>
            <a:off x="550069" y="1787054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737047"/>
            <a:ext cx="2304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SAML 2.0 SSO via Microsoft Entra 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0069" y="2221260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0081" y="2171254"/>
            <a:ext cx="2304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HTTP-only session cookies, Secure auto-detected</a:t>
            </a:r>
            <a:endParaRPr lang="en-US" sz="703" dirty="0"/>
          </a:p>
        </p:txBody>
      </p:sp>
      <p:sp>
        <p:nvSpPr>
          <p:cNvPr id="11" name="Text 9"/>
          <p:cNvSpPr/>
          <p:nvPr/>
        </p:nvSpPr>
        <p:spPr>
          <a:xfrm>
            <a:off x="550069" y="2655466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0081" y="2605460"/>
            <a:ext cx="2304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 Control (RBAC)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0069" y="3089672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081" y="3039666"/>
            <a:ext cx="2304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Administrative authorization &amp; approval validation</a:t>
            </a:r>
            <a:endParaRPr lang="en-US" sz="703" dirty="0"/>
          </a:p>
        </p:txBody>
      </p:sp>
      <p:sp>
        <p:nvSpPr>
          <p:cNvPr id="15" name="Text 13"/>
          <p:cNvSpPr/>
          <p:nvPr/>
        </p:nvSpPr>
        <p:spPr>
          <a:xfrm>
            <a:off x="550069" y="3523766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0081" y="3473760"/>
            <a:ext cx="2304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Directory validation &amp; controlled just-in-time provisioning</a:t>
            </a:r>
            <a:endParaRPr lang="en-US" sz="703" dirty="0"/>
          </a:p>
        </p:txBody>
      </p:sp>
      <p:sp>
        <p:nvSpPr>
          <p:cNvPr id="17" name="Text 15"/>
          <p:cNvSpPr/>
          <p:nvPr/>
        </p:nvSpPr>
        <p:spPr>
          <a:xfrm>
            <a:off x="3222947" y="1011845"/>
            <a:ext cx="2697993" cy="2949811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69394" y="115829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3719438" y="1224818"/>
            <a:ext cx="2055056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Administration &amp; Oversight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3369394" y="1787054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69407" y="1737047"/>
            <a:ext cx="2305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Administration Center — users, roles, requests, metadata</a:t>
            </a:r>
            <a:endParaRPr lang="en-US" sz="703" dirty="0"/>
          </a:p>
        </p:txBody>
      </p:sp>
      <p:sp>
        <p:nvSpPr>
          <p:cNvPr id="22" name="Text 20"/>
          <p:cNvSpPr/>
          <p:nvPr/>
        </p:nvSpPr>
        <p:spPr>
          <a:xfrm>
            <a:off x="3369394" y="2221260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69407" y="2171254"/>
            <a:ext cx="2305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logs, activity &amp; administrative history</a:t>
            </a:r>
            <a:endParaRPr lang="en-US" sz="703" dirty="0"/>
          </a:p>
        </p:txBody>
      </p:sp>
      <p:sp>
        <p:nvSpPr>
          <p:cNvPr id="24" name="Text 22"/>
          <p:cNvSpPr/>
          <p:nvPr/>
        </p:nvSpPr>
        <p:spPr>
          <a:xfrm>
            <a:off x="3369394" y="2655466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9407" y="2605460"/>
            <a:ext cx="2305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Exportable audit logs and reports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69394" y="3089672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69407" y="3039666"/>
            <a:ext cx="2305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analytics, trends &amp; assignee workload</a:t>
            </a:r>
            <a:endParaRPr lang="en-US" sz="703" dirty="0"/>
          </a:p>
        </p:txBody>
      </p:sp>
      <p:sp>
        <p:nvSpPr>
          <p:cNvPr id="28" name="Text 26"/>
          <p:cNvSpPr/>
          <p:nvPr/>
        </p:nvSpPr>
        <p:spPr>
          <a:xfrm>
            <a:off x="3369394" y="3523766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69407" y="3473760"/>
            <a:ext cx="2305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Configurable forms, categories &amp; catalog ordering</a:t>
            </a:r>
            <a:endParaRPr lang="en-US" sz="703" dirty="0"/>
          </a:p>
        </p:txBody>
      </p:sp>
      <p:sp>
        <p:nvSpPr>
          <p:cNvPr id="30" name="Text 28"/>
          <p:cNvSpPr/>
          <p:nvPr/>
        </p:nvSpPr>
        <p:spPr>
          <a:xfrm>
            <a:off x="6042385" y="1011845"/>
            <a:ext cx="2697882" cy="2949811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  <a:effectLst>
            <a:outerShdw sx="100000" sy="100000" kx="0" ky="0" algn="bl" rotWithShape="0" blurRad="19050" dist="9525" dir="5400000">
              <a:srgbClr val="0A1D3D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88832" y="1158292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984" dirty="0"/>
          </a:p>
        </p:txBody>
      </p:sp>
      <p:sp>
        <p:nvSpPr>
          <p:cNvPr id="32" name="Text 30"/>
          <p:cNvSpPr/>
          <p:nvPr/>
        </p:nvSpPr>
        <p:spPr>
          <a:xfrm>
            <a:off x="6538875" y="1224818"/>
            <a:ext cx="2054944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72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872" dirty="0"/>
          </a:p>
        </p:txBody>
      </p:sp>
      <p:sp>
        <p:nvSpPr>
          <p:cNvPr id="33" name="Text 31"/>
          <p:cNvSpPr/>
          <p:nvPr/>
        </p:nvSpPr>
        <p:spPr>
          <a:xfrm>
            <a:off x="6188832" y="16620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34" name="Text 32"/>
          <p:cNvSpPr/>
          <p:nvPr/>
        </p:nvSpPr>
        <p:spPr>
          <a:xfrm>
            <a:off x="6353138" y="1647751"/>
            <a:ext cx="22406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Traceability — every request traceable from submission to resolution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88832" y="214089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36" name="Text 34"/>
          <p:cNvSpPr/>
          <p:nvPr/>
        </p:nvSpPr>
        <p:spPr>
          <a:xfrm>
            <a:off x="6353138" y="2126605"/>
            <a:ext cx="22406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handled by the enterprise IdP — no standalone credentials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88832" y="2619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38" name="Text 36"/>
          <p:cNvSpPr/>
          <p:nvPr/>
        </p:nvSpPr>
        <p:spPr>
          <a:xfrm>
            <a:off x="6353138" y="2605460"/>
            <a:ext cx="22406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Consistent governance through one administration center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88832" y="309860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40" name="Text 38"/>
          <p:cNvSpPr/>
          <p:nvPr/>
        </p:nvSpPr>
        <p:spPr>
          <a:xfrm>
            <a:off x="6353138" y="3084314"/>
            <a:ext cx="22406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Maintainability — services extended by configuration, not code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88832" y="35773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42" name="Text 40"/>
          <p:cNvSpPr/>
          <p:nvPr/>
        </p:nvSpPr>
        <p:spPr>
          <a:xfrm>
            <a:off x="6353138" y="3563057"/>
            <a:ext cx="22406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single system of record for requests and decisions</a:t>
            </a:r>
            <a:endParaRPr lang="en-US" sz="703" dirty="0"/>
          </a:p>
        </p:txBody>
      </p:sp>
      <p:sp>
        <p:nvSpPr>
          <p:cNvPr id="43" name="Text 41"/>
          <p:cNvSpPr/>
          <p:nvPr/>
        </p:nvSpPr>
        <p:spPr>
          <a:xfrm>
            <a:off x="400050" y="3965228"/>
            <a:ext cx="8343900" cy="508992"/>
          </a:xfrm>
          <a:prstGeom prst="roundRect">
            <a:avLst>
              <a:gd name="adj" fmla="val 22456"/>
            </a:avLst>
          </a:prstGeom>
          <a:solidFill>
            <a:srgbClr val="E0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42925" y="407952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55E7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5" name="Text 43"/>
          <p:cNvSpPr/>
          <p:nvPr/>
        </p:nvSpPr>
        <p:spPr>
          <a:xfrm>
            <a:off x="900113" y="4079528"/>
            <a:ext cx="781069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Designed for extensibility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00113" y="4225975"/>
            <a:ext cx="753308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administrator-managed dynamic request catalog — publish new service offerings with custom questions, validation, and versioning at runtime. New request types require no code changes.</a:t>
            </a:r>
            <a:endParaRPr lang="en-US" sz="703" dirty="0"/>
          </a:p>
        </p:txBody>
      </p:sp>
      <p:sp>
        <p:nvSpPr>
          <p:cNvPr id="47" name="Shape 45"/>
          <p:cNvSpPr/>
          <p:nvPr/>
        </p:nvSpPr>
        <p:spPr>
          <a:xfrm>
            <a:off x="400050" y="4592092"/>
            <a:ext cx="8343900" cy="0"/>
          </a:xfrm>
          <a:prstGeom prst="line">
            <a:avLst/>
          </a:prstGeom>
          <a:noFill/>
          <a:ln w="7144">
            <a:solidFill>
              <a:srgbClr val="DC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0050" y="46838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4A5A7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84" dirty="0"/>
          </a:p>
        </p:txBody>
      </p:sp>
      <p:sp>
        <p:nvSpPr>
          <p:cNvPr id="49" name="Text 47"/>
          <p:cNvSpPr/>
          <p:nvPr/>
        </p:nvSpPr>
        <p:spPr>
          <a:xfrm>
            <a:off x="557213" y="4681389"/>
            <a:ext cx="8186738" cy="10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Planned roadmap — not yet implemented: Workflow Designer · SLA Management · Knowledge Base · Power Automate · Azure DevOps · Microsoft Teams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71975" y="1665610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274320" y="1901354"/>
            <a:ext cx="8595360" cy="469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26"/>
              </a:lnSpc>
              <a:buNone/>
            </a:pPr>
            <a:r>
              <a:rPr lang="en-US" sz="3263" b="1" spc="-49" kern="0" dirty="0">
                <a:solidFill>
                  <a:srgbClr val="0A1D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3263" dirty="0"/>
          </a:p>
        </p:txBody>
      </p:sp>
      <p:sp>
        <p:nvSpPr>
          <p:cNvPr id="7" name="Text 2"/>
          <p:cNvSpPr/>
          <p:nvPr/>
        </p:nvSpPr>
        <p:spPr>
          <a:xfrm>
            <a:off x="3666027" y="2436354"/>
            <a:ext cx="1811945" cy="21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1181" dirty="0">
                <a:solidFill>
                  <a:srgbClr val="155E7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&amp; Discussion</a:t>
            </a:r>
            <a:endParaRPr lang="en-US" sz="1181" dirty="0"/>
          </a:p>
        </p:txBody>
      </p:sp>
      <p:sp>
        <p:nvSpPr>
          <p:cNvPr id="8" name="Text 3"/>
          <p:cNvSpPr/>
          <p:nvPr/>
        </p:nvSpPr>
        <p:spPr>
          <a:xfrm>
            <a:off x="3013546" y="3002831"/>
            <a:ext cx="31167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4A5A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ITSM Service Portal — A Centralized Enterprise Service Management Platform</a:t>
            </a:r>
            <a:endParaRPr lang="en-US" sz="703" dirty="0"/>
          </a:p>
        </p:txBody>
      </p:sp>
      <p:sp>
        <p:nvSpPr>
          <p:cNvPr id="9" name="Text 4"/>
          <p:cNvSpPr/>
          <p:nvPr/>
        </p:nvSpPr>
        <p:spPr>
          <a:xfrm>
            <a:off x="3101280" y="3252612"/>
            <a:ext cx="516024" cy="238030"/>
          </a:xfrm>
          <a:prstGeom prst="roundRect">
            <a:avLst>
              <a:gd name="adj" fmla="val 3997595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3101280" y="3265363"/>
            <a:ext cx="51602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4A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3688742" y="3252612"/>
            <a:ext cx="633003" cy="238030"/>
          </a:xfrm>
          <a:prstGeom prst="roundRect">
            <a:avLst>
              <a:gd name="adj" fmla="val 3997595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3688742" y="3265363"/>
            <a:ext cx="63300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4A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393183" y="3252612"/>
            <a:ext cx="633003" cy="238030"/>
          </a:xfrm>
          <a:prstGeom prst="roundRect">
            <a:avLst>
              <a:gd name="adj" fmla="val 3997595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393183" y="3265363"/>
            <a:ext cx="63300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4A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097624" y="3252612"/>
            <a:ext cx="944984" cy="238030"/>
          </a:xfrm>
          <a:prstGeom prst="roundRect">
            <a:avLst>
              <a:gd name="adj" fmla="val 3997595"/>
            </a:avLst>
          </a:prstGeom>
          <a:solidFill>
            <a:srgbClr val="FFFFFF"/>
          </a:solidFill>
          <a:ln w="7144">
            <a:solidFill>
              <a:srgbClr val="DCE3E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097624" y="3265363"/>
            <a:ext cx="94498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2" kern="0" dirty="0">
                <a:solidFill>
                  <a:srgbClr val="4A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 Entra ID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2026-10-22T09:55:46Z</dcterms:created>
  <dcterms:modified xsi:type="dcterms:W3CDTF">2026-10-22T09:55:46Z</dcterms:modified>
</cp:coreProperties>
</file>